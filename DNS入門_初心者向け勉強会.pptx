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Sdp9XPvMnOKP5aFmZl/GFK1na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636BA1-E618-488C-9F4B-A94131FF2CAB}">
  <a:tblStyle styleId="{31636BA1-E618-488C-9F4B-A94131FF2C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処理時間(ms)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 リゾルバ</c:v>
                  </c:pt>
                  <c:pt idx="1">
                    <c:v>2. ルート</c:v>
                  </c:pt>
                  <c:pt idx="2">
                    <c:v>3. TLD</c:v>
                  </c:pt>
                  <c:pt idx="3">
                    <c:v>4. 権威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DNSクエリステップ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処理時間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133957" y="1128713"/>
            <a:ext cx="28757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DNS入門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803477" y="2119313"/>
            <a:ext cx="35368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6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4F6F6"/>
                </a:solidFill>
                <a:latin typeface="Arial"/>
                <a:ea typeface="Arial"/>
                <a:cs typeface="Arial"/>
                <a:sym typeface="Arial"/>
              </a:rPr>
              <a:t>初心者向けDNS勉強会資料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19351" y="3071813"/>
            <a:ext cx="1905000" cy="285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152326" y="3709988"/>
            <a:ext cx="28390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4F6F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4F6F6"/>
                </a:solidFill>
                <a:latin typeface="Arial"/>
                <a:ea typeface="Arial"/>
                <a:cs typeface="Arial"/>
                <a:sym typeface="Arial"/>
              </a:rPr>
              <a:t>インターネットの電話帳を理解する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学習目標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58115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31627" y="1666875"/>
            <a:ext cx="1297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85850" y="1581150"/>
            <a:ext cx="77529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DNSの基本概念と役割を理解する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236220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31627" y="2447925"/>
            <a:ext cx="1297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85850" y="2362200"/>
            <a:ext cx="77529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名前解決の仕組みとプロセスを学ぶ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314325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31627" y="3228975"/>
            <a:ext cx="1297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85850" y="3143250"/>
            <a:ext cx="77529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主要なDNSレコードタイプとサーバーの種類を知る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392430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31627" y="4010025"/>
            <a:ext cx="1297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85850" y="3924300"/>
            <a:ext cx="77529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基本的なトラブルシューティング手法を習得する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DNSとは何か？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1314450"/>
            <a:ext cx="8229600" cy="1409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485775" y="1314450"/>
            <a:ext cx="0" cy="1409700"/>
          </a:xfrm>
          <a:prstGeom prst="straightConnector1">
            <a:avLst/>
          </a:prstGeom>
          <a:noFill/>
          <a:ln cap="flat" cmpd="sng" w="5715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819150" y="1619250"/>
            <a:ext cx="77141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Domain Name System（ドメイン名システム）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19150" y="2076450"/>
            <a:ext cx="77141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インターネット上のドメイン名をIPアドレスに変換する分散型システム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3028950"/>
            <a:ext cx="2692450" cy="16383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85800" y="3257550"/>
            <a:ext cx="227995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人間にとって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85800" y="3676650"/>
            <a:ext cx="227995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覚えやすいドメイン名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85800" y="4095750"/>
            <a:ext cx="22799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example.com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428381" y="3657600"/>
            <a:ext cx="29313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994499" y="3028950"/>
            <a:ext cx="2692450" cy="16383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223099" y="3257550"/>
            <a:ext cx="227995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コンピュータにとって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223099" y="3676650"/>
            <a:ext cx="227995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処理可能なIPアドレス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223099" y="4095750"/>
            <a:ext cx="22799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192.0.2.1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なぜDNSが必要なのか？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1223070"/>
            <a:ext cx="3886200" cy="3535561"/>
          </a:xfrm>
          <a:prstGeom prst="roundRect">
            <a:avLst>
              <a:gd fmla="val 2155" name="adj"/>
            </a:avLst>
          </a:prstGeom>
          <a:solidFill>
            <a:srgbClr val="F8D7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485775" y="1223070"/>
            <a:ext cx="0" cy="3535561"/>
          </a:xfrm>
          <a:prstGeom prst="straightConnector1">
            <a:avLst/>
          </a:prstGeom>
          <a:noFill/>
          <a:ln cap="flat" cmpd="sng" w="571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"/>
          <p:cNvSpPr/>
          <p:nvPr/>
        </p:nvSpPr>
        <p:spPr>
          <a:xfrm>
            <a:off x="819150" y="1527870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❌ DNS無しの世界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19150" y="2061270"/>
            <a:ext cx="3219450" cy="1478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IPアドレスを全て暗記する必要がある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サーバー移転時に全ユーザーへ通知が必要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覚えにくく、入力ミスが発生しやすい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19150" y="3768030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192.168.1.1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19150" y="4149030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203.0.113.42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800600" y="1360140"/>
            <a:ext cx="3886200" cy="3261271"/>
          </a:xfrm>
          <a:prstGeom prst="roundRect">
            <a:avLst>
              <a:gd fmla="val 2337" name="adj"/>
            </a:avLst>
          </a:prstGeom>
          <a:solidFill>
            <a:srgbClr val="D4ED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4"/>
          <p:cNvCxnSpPr/>
          <p:nvPr/>
        </p:nvCxnSpPr>
        <p:spPr>
          <a:xfrm>
            <a:off x="4829175" y="1360140"/>
            <a:ext cx="0" cy="3261271"/>
          </a:xfrm>
          <a:prstGeom prst="straightConnector1">
            <a:avLst/>
          </a:prstGeom>
          <a:noFill/>
          <a:ln cap="flat" cmpd="sng" w="571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5162550" y="1664940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✓ DNS有りの世界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162550" y="2198340"/>
            <a:ext cx="3219450" cy="1203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覚えやすいドメイン名でアクセス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サーバー変更を透過的に処理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人間に優しく、管理が容易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162550" y="3630811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example.com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162550" y="4011811"/>
            <a:ext cx="32838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google.com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457200" y="457200"/>
            <a:ext cx="497433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DNSの仕組み：名前解決の流れ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829300" y="81915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57900" y="1047750"/>
            <a:ext cx="24483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ステップ1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057900" y="1352550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ブラウザがDNSリゾルバに問い合わせ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29300" y="192405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57900" y="2152650"/>
            <a:ext cx="24483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ステップ2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057900" y="2457450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ルートサーバーへ問い合わせ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829300" y="302895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057900" y="3257550"/>
            <a:ext cx="24483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ステップ3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057900" y="3562350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TLDサーバーへ問い合わせ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829300" y="413385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57900" y="4362450"/>
            <a:ext cx="24483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ステップ4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057900" y="4667250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権威サーバーからIPアドレス取得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5"/>
          <p:cNvGraphicFramePr/>
          <p:nvPr/>
        </p:nvGraphicFramePr>
        <p:xfrm>
          <a:off x="457200" y="1052513"/>
          <a:ext cx="5067300" cy="3800475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457200" y="457200"/>
            <a:ext cx="429425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主要なDNSレコードタイプ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6"/>
          <p:cNvGraphicFramePr/>
          <p:nvPr/>
        </p:nvGraphicFramePr>
        <p:xfrm>
          <a:off x="4572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{31636BA1-E618-488C-9F4B-A94131FF2CAB}</a:tableStyleId>
              </a:tblPr>
              <a:tblGrid>
                <a:gridCol w="2286000"/>
                <a:gridCol w="3200400"/>
                <a:gridCol w="3200400"/>
              </a:tblGrid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レコードタイプ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用途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例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A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IPv4アドレスへのマッピング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example.com → 192.0.2.1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AAAA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IPv6アドレスへのマッピング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example.com → 2001:db8::1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CNAME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別名の設定（エイリアス）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www → example.com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MX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メールサーバーの指定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mail.example.com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TXT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テキスト情報の保存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SPF, DKIM設定など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DNSサーバーの種類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57200" y="1512689"/>
            <a:ext cx="3962400" cy="1401961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7"/>
          <p:cNvCxnSpPr/>
          <p:nvPr/>
        </p:nvCxnSpPr>
        <p:spPr>
          <a:xfrm>
            <a:off x="457200" y="1531739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/>
          <p:nvPr/>
        </p:nvSpPr>
        <p:spPr>
          <a:xfrm>
            <a:off x="685800" y="1779389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リカーシブサーバー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5800" y="2198489"/>
            <a:ext cx="357530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クライアントの代わりに再帰的に問い合わせを行うサーバー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24400" y="1512689"/>
            <a:ext cx="3962400" cy="1401961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4724400" y="1531739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4953000" y="1779389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権威サーバー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953000" y="2198489"/>
            <a:ext cx="357530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特定ゾーンの正式な情報を保持し、応答するサーバー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3067050"/>
            <a:ext cx="3962400" cy="1401961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7"/>
          <p:cNvCxnSpPr/>
          <p:nvPr/>
        </p:nvCxnSpPr>
        <p:spPr>
          <a:xfrm>
            <a:off x="457200" y="3086100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2E40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7"/>
          <p:cNvSpPr/>
          <p:nvPr/>
        </p:nvSpPr>
        <p:spPr>
          <a:xfrm>
            <a:off x="685800" y="3333750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4053"/>
                </a:solidFill>
                <a:latin typeface="Arial"/>
                <a:ea typeface="Arial"/>
                <a:cs typeface="Arial"/>
                <a:sym typeface="Arial"/>
              </a:rPr>
              <a:t>ルートサーバー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85800" y="3752850"/>
            <a:ext cx="357530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DNSツリーの最上位にある13個のサーバー群（世界中に分散）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724400" y="3067050"/>
            <a:ext cx="3962400" cy="1401961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7"/>
          <p:cNvCxnSpPr/>
          <p:nvPr/>
        </p:nvCxnSpPr>
        <p:spPr>
          <a:xfrm>
            <a:off x="4724400" y="3086100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2E40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/>
          <p:nvPr/>
        </p:nvSpPr>
        <p:spPr>
          <a:xfrm>
            <a:off x="4953000" y="3333750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4053"/>
                </a:solidFill>
                <a:latin typeface="Arial"/>
                <a:ea typeface="Arial"/>
                <a:cs typeface="Arial"/>
                <a:sym typeface="Arial"/>
              </a:rPr>
              <a:t>キャッシュサーバー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953000" y="3752850"/>
            <a:ext cx="357530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過去の問い合わせ結果を一時保存し、高速応答を実現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DNSキャッシュとTTL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1255514"/>
            <a:ext cx="8229600" cy="1375321"/>
          </a:xfrm>
          <a:prstGeom prst="roundRect">
            <a:avLst>
              <a:gd fmla="val 55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762000" y="1560314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DNSキャッシュ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62000" y="2017514"/>
            <a:ext cx="7772400" cy="3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DNS問い合わせの結果を一時的に保存し、同じ問い合わせに対して高速に応答する仕組み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2935635"/>
            <a:ext cx="3962400" cy="17907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85800" y="3164235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メリット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85800" y="3583335"/>
            <a:ext cx="350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応答速度の向上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サーバー負荷の軽減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ネットワーク帯域の節約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24400" y="2947095"/>
            <a:ext cx="3962400" cy="1767780"/>
          </a:xfrm>
          <a:prstGeom prst="roundRect">
            <a:avLst>
              <a:gd fmla="val 43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953000" y="3175695"/>
            <a:ext cx="35753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TTL（Time To Live）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953000" y="3594795"/>
            <a:ext cx="3575304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キャッシュの有効期限を秒単位で指定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953000" y="3990975"/>
            <a:ext cx="3505200" cy="495300"/>
          </a:xfrm>
          <a:prstGeom prst="roundRect">
            <a:avLst>
              <a:gd fmla="val 7692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105400" y="4143375"/>
            <a:ext cx="326440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例：TTL = 3600 → 1時間有効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457200" y="381000"/>
            <a:ext cx="463429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トラブルシューティング基礎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1164282"/>
            <a:ext cx="4876800" cy="1613148"/>
          </a:xfrm>
          <a:prstGeom prst="roundRect">
            <a:avLst>
              <a:gd fmla="val 47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39961" y="1347043"/>
            <a:ext cx="46015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よくある問題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39961" y="1735634"/>
            <a:ext cx="4511278" cy="859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キャッシュの問題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DNS伝播の遅延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設定ミス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57200" y="2929830"/>
            <a:ext cx="4876800" cy="1613148"/>
          </a:xfrm>
          <a:prstGeom prst="roundRect">
            <a:avLst>
              <a:gd fmla="val 47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39961" y="3112591"/>
            <a:ext cx="46015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基本的な解決手順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39961" y="3501182"/>
            <a:ext cx="4511278" cy="859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問題の切り分け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キャッシュのクリア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設定の確認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638800" y="1062930"/>
            <a:ext cx="3048000" cy="3581400"/>
          </a:xfrm>
          <a:prstGeom prst="roundRect">
            <a:avLst>
              <a:gd fmla="val 250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867400" y="1291530"/>
            <a:ext cx="2642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基本ツール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867400" y="1710630"/>
            <a:ext cx="2590800" cy="800100"/>
          </a:xfrm>
          <a:prstGeom prst="roundRect">
            <a:avLst>
              <a:gd fmla="val 4762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019800" y="186303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nslookup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019800" y="216783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DNS問い合わせを実行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867400" y="2663130"/>
            <a:ext cx="2590800" cy="800100"/>
          </a:xfrm>
          <a:prstGeom prst="roundRect">
            <a:avLst>
              <a:gd fmla="val 4762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019800" y="281553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019800" y="312033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詳細なDNS情報を取得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867400" y="3615630"/>
            <a:ext cx="2590800" cy="800100"/>
          </a:xfrm>
          <a:prstGeom prst="roundRect">
            <a:avLst>
              <a:gd fmla="val 4762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019800" y="376803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019800" y="407283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接続性を確認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457200" y="262975"/>
            <a:ext cx="42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まとめと次のステップ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57200" y="643979"/>
            <a:ext cx="8229600" cy="1828651"/>
          </a:xfrm>
          <a:prstGeom prst="roundRect">
            <a:avLst>
              <a:gd fmla="val 4167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85800" y="872579"/>
            <a:ext cx="792784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今日学んだこと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85800" y="1299270"/>
            <a:ext cx="7772400" cy="944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DNSはドメイン名とIPアドレスを変換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名前解決は複数のサーバーを経由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キャッシュとTTLで効率的に動作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57200" y="2625030"/>
            <a:ext cx="8229600" cy="1828651"/>
          </a:xfrm>
          <a:prstGeom prst="roundRect">
            <a:avLst>
              <a:gd fmla="val 4167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85800" y="2853630"/>
            <a:ext cx="792784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次のステップ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85800" y="3280321"/>
            <a:ext cx="7772400" cy="944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実際のDNS設定を確認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コマンドツールを使ってみる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発展的なトピックを学ぶ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292604" y="4453675"/>
            <a:ext cx="839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ご清聴ありがとうございました！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2025-10-16T23:26:03Z</dcterms:created>
  <dc:creator>DNS勉強会</dc:creator>
</cp:coreProperties>
</file>